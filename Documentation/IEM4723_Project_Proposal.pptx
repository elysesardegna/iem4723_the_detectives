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sldIdLst>
    <p:sldId id="256" r:id="rId5"/>
    <p:sldId id="261"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789169-B40A-6176-4D9E-38F4FEB86FAF}" v="1" dt="2026-10-10T22:22:17.3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6616CB-BD3B-495E-8A9A-26492681DDC4}" type="datetimeFigureOut">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0BAF9F-DDE2-47C3-9065-EB8E61E71C0A}" type="slidenum">
              <a:t>‹#›</a:t>
            </a:fld>
            <a:endParaRPr lang="en-US"/>
          </a:p>
        </p:txBody>
      </p:sp>
    </p:spTree>
    <p:extLst>
      <p:ext uri="{BB962C8B-B14F-4D97-AF65-F5344CB8AC3E}">
        <p14:creationId xmlns:p14="http://schemas.microsoft.com/office/powerpoint/2010/main" val="1823504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ata.boston.gov/dataset/crime-incident-reports-august-2015-to-date-source-new-system"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Hotel (or Airbnb) recommendation website for Boston</a:t>
            </a:r>
          </a:p>
          <a:p>
            <a:pPr lvl="1">
              <a:buFont typeface="Courier New" panose="020B0604020202020204" pitchFamily="34" charset="0"/>
              <a:buChar char="o"/>
            </a:pPr>
            <a:r>
              <a:rPr lang="en-US"/>
              <a:t>Uses </a:t>
            </a:r>
            <a:r>
              <a:rPr lang="en-US">
                <a:hlinkClick r:id="rId3"/>
              </a:rPr>
              <a:t>Boston crime data</a:t>
            </a:r>
            <a:r>
              <a:rPr lang="en-US"/>
              <a:t> and a small set of attraction locations to recommend a street/neighborhood/map coordinates to recommend lodging areas based on a user selection of most important attractions</a:t>
            </a:r>
          </a:p>
          <a:p>
            <a:pPr lvl="1">
              <a:buFont typeface="Courier New" panose="020B0604020202020204" pitchFamily="34" charset="0"/>
              <a:buChar char="o"/>
            </a:pPr>
            <a:r>
              <a:rPr lang="en-US"/>
              <a:t>Can expand with a Kaggle Airbnb dataset or Boston transit locations dataset if we want</a:t>
            </a:r>
          </a:p>
          <a:p>
            <a:endParaRPr lang="en-US"/>
          </a:p>
        </p:txBody>
      </p:sp>
      <p:sp>
        <p:nvSpPr>
          <p:cNvPr id="4" name="Slide Number Placeholder 3"/>
          <p:cNvSpPr>
            <a:spLocks noGrp="1"/>
          </p:cNvSpPr>
          <p:nvPr>
            <p:ph type="sldNum" sz="quarter" idx="5"/>
          </p:nvPr>
        </p:nvSpPr>
        <p:spPr/>
        <p:txBody>
          <a:bodyPr/>
          <a:lstStyle/>
          <a:p>
            <a:fld id="{950BAF9F-DDE2-47C3-9065-EB8E61E71C0A}" type="slidenum">
              <a:rPr lang="en-US" smtClean="0"/>
              <a:t>1</a:t>
            </a:fld>
            <a:endParaRPr lang="en-US"/>
          </a:p>
        </p:txBody>
      </p:sp>
    </p:spTree>
    <p:extLst>
      <p:ext uri="{BB962C8B-B14F-4D97-AF65-F5344CB8AC3E}">
        <p14:creationId xmlns:p14="http://schemas.microsoft.com/office/powerpoint/2010/main" val="311075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a:t>Description of the proposed system design, including the database, containerization, and dashboard components.</a:t>
            </a:r>
          </a:p>
          <a:p>
            <a:pPr lvl="1">
              <a:lnSpc>
                <a:spcPct val="90000"/>
              </a:lnSpc>
              <a:spcBef>
                <a:spcPts val="500"/>
              </a:spcBef>
              <a:buFont typeface="Arial"/>
              <a:buChar char="•"/>
            </a:pPr>
            <a:r>
              <a:rPr lang="en-US"/>
              <a:t>Code Management and Containerization: A GitHub repository with branches, commits and forks as deemed necessary by team members. Container development and hosting on Docker hub or the Github Container Repository (GHCR).</a:t>
            </a:r>
          </a:p>
          <a:p>
            <a:pPr marL="628650" lvl="1" indent="-171450">
              <a:lnSpc>
                <a:spcPct val="90000"/>
              </a:lnSpc>
              <a:spcBef>
                <a:spcPts val="500"/>
              </a:spcBef>
              <a:buFont typeface="Arial"/>
              <a:buChar char="•"/>
            </a:pPr>
            <a:r>
              <a:rPr lang="en-US"/>
              <a:t>Database Management and Handling: Use either a SQL, NoSQL or a combination thereof store, retrieve and edit data records for your chosen problem set. This needs to be accompanied by technical documentation such as entity-relationship diagrams, the relational database schema and other associated design choices central to your problem.</a:t>
            </a:r>
            <a:endParaRPr lang="en-US">
              <a:ea typeface="Calibri" panose="020F0502020204030204"/>
              <a:cs typeface="Calibri" panose="020F0502020204030204"/>
            </a:endParaRPr>
          </a:p>
          <a:p>
            <a:pPr marL="628650" lvl="1" indent="-171450">
              <a:lnSpc>
                <a:spcPct val="90000"/>
              </a:lnSpc>
              <a:spcBef>
                <a:spcPts val="500"/>
              </a:spcBef>
              <a:buFont typeface="Arial"/>
              <a:buChar char="•"/>
            </a:pPr>
            <a:r>
              <a:rPr lang="en-US"/>
              <a:t>Visualization Component: An interactive dashboard, built using Streamlit, that visualizes the data and supports the kinds of questions a real user of the system would ask. This has to be interactive and not static. Teams may also propose an optional advanced component, such as an AI agent or LLM-driven feature, building on material covered later in the course for bonus points.</a:t>
            </a:r>
            <a:endParaRPr lang="en-US">
              <a:ea typeface="Calibri" panose="020F0502020204030204"/>
              <a:cs typeface="Calibri" panose="020F0502020204030204"/>
            </a:endParaRPr>
          </a:p>
          <a:p>
            <a:pPr lvl="1">
              <a:lnSpc>
                <a:spcPct val="90000"/>
              </a:lnSpc>
              <a:spcBef>
                <a:spcPts val="500"/>
              </a:spcBef>
              <a:buFont typeface="Arial"/>
              <a:buChar char="•"/>
            </a:pPr>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950BAF9F-DDE2-47C3-9065-EB8E61E71C0A}" type="slidenum">
              <a:t>2</a:t>
            </a:fld>
            <a:endParaRPr lang="en-US"/>
          </a:p>
        </p:txBody>
      </p:sp>
    </p:spTree>
    <p:extLst>
      <p:ext uri="{BB962C8B-B14F-4D97-AF65-F5344CB8AC3E}">
        <p14:creationId xmlns:p14="http://schemas.microsoft.com/office/powerpoint/2010/main" val="3101809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E87F-1181-E837-0B0B-9F948235EB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511279-32A8-C9E2-BECF-AF62D9D833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E9CF1E-E596-CF89-6FB9-0DCD10B9468B}"/>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5" name="Footer Placeholder 4">
            <a:extLst>
              <a:ext uri="{FF2B5EF4-FFF2-40B4-BE49-F238E27FC236}">
                <a16:creationId xmlns:a16="http://schemas.microsoft.com/office/drawing/2014/main" id="{3A648480-F702-2EEB-CF7E-EF5390E485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EAC52-05A3-69A0-9833-5DBA961A9016}"/>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2728136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7E1D0-833C-A017-0796-4425068294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8E7C88-4B27-004A-BD13-541DA1ED6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959222-9764-AE72-B086-B80FF219A4A5}"/>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5" name="Footer Placeholder 4">
            <a:extLst>
              <a:ext uri="{FF2B5EF4-FFF2-40B4-BE49-F238E27FC236}">
                <a16:creationId xmlns:a16="http://schemas.microsoft.com/office/drawing/2014/main" id="{A350685B-C2EF-431D-7A15-A031210D6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CD41C1-7B9D-3EB5-548D-1FE09774ED8F}"/>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3247904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10C4B-FE17-1EFB-95A7-5F31DB1974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FCDC41-CB39-FA80-804E-EC8F1BD8DE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BD37FC-9F86-2A43-0496-CD37CCC721C1}"/>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5" name="Footer Placeholder 4">
            <a:extLst>
              <a:ext uri="{FF2B5EF4-FFF2-40B4-BE49-F238E27FC236}">
                <a16:creationId xmlns:a16="http://schemas.microsoft.com/office/drawing/2014/main" id="{05ABCB1F-968A-E6DE-FF96-E4B2226F11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626B9B-458B-CAC9-6008-47090BA250CD}"/>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1399093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D73E1-A39B-F2D3-D3BC-D5814B2A51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C2E2B9-6948-2FAD-D0D2-2FAF006C4D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021C50-9E01-A45C-1164-DFEFB94547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B35A72-9588-C631-8C99-9ACAA98BC767}"/>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6" name="Footer Placeholder 5">
            <a:extLst>
              <a:ext uri="{FF2B5EF4-FFF2-40B4-BE49-F238E27FC236}">
                <a16:creationId xmlns:a16="http://schemas.microsoft.com/office/drawing/2014/main" id="{CA0A65C5-ACC6-9788-6EE8-C1089D2FA2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E4956-C24A-FD18-B8CE-209F75C3A620}"/>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280264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48D40-E244-8D91-E1DD-3F5B402880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FFA8A3-1367-F46D-0BF1-17E983A0CF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F98E3E-AFC1-5815-2E47-71E98441FA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F13B6F-A4ED-C285-ACC5-7ED0D99D15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D7DC07-1ABC-79A8-D846-57B96D8344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F6E283-1D1C-BF35-A3C5-1A2AE6208FB2}"/>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8" name="Footer Placeholder 7">
            <a:extLst>
              <a:ext uri="{FF2B5EF4-FFF2-40B4-BE49-F238E27FC236}">
                <a16:creationId xmlns:a16="http://schemas.microsoft.com/office/drawing/2014/main" id="{78F2C3A8-C792-DC5F-1BF3-01469589E4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55514A-BEC2-BF0C-7E3F-445CBC65E38D}"/>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842063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0836A-3A73-954F-649E-B2FCC3F495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1BA75B-0950-0C60-231F-C831097937E4}"/>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4" name="Footer Placeholder 3">
            <a:extLst>
              <a:ext uri="{FF2B5EF4-FFF2-40B4-BE49-F238E27FC236}">
                <a16:creationId xmlns:a16="http://schemas.microsoft.com/office/drawing/2014/main" id="{DE44EBC6-3914-F09B-F1F6-3B26340788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E4ED1B-EF57-FD0C-D397-1261E72371D8}"/>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2652349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FF69FA-D39C-99E9-0A12-3D18A57D3F40}"/>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3" name="Footer Placeholder 2">
            <a:extLst>
              <a:ext uri="{FF2B5EF4-FFF2-40B4-BE49-F238E27FC236}">
                <a16:creationId xmlns:a16="http://schemas.microsoft.com/office/drawing/2014/main" id="{B7EFF101-D933-9ED7-6C49-CC594F99DF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26E739-1047-C369-7460-FB7DE930D740}"/>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3082531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9AB51-35FE-D8BF-101F-EB65AE41A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A8F84C-08DC-8BF5-6778-1CC333779E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E89ABF-25C5-0957-0563-139F4F6FDA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5388DF-18A4-D624-2073-365B20F1766A}"/>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6" name="Footer Placeholder 5">
            <a:extLst>
              <a:ext uri="{FF2B5EF4-FFF2-40B4-BE49-F238E27FC236}">
                <a16:creationId xmlns:a16="http://schemas.microsoft.com/office/drawing/2014/main" id="{474FC4D7-40E5-762B-92F5-C5A92E9703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68112E-BD2F-4E26-DBF5-E2047DB8A2F1}"/>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3894307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EF940-6680-2595-A070-2423762C84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308359-DA41-0FDD-B9D8-3F1375265C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F40FFF-7749-AB97-E9B8-18E835CDAF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15FD12-F6C3-D09E-E165-CD65BAA8760D}"/>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6" name="Footer Placeholder 5">
            <a:extLst>
              <a:ext uri="{FF2B5EF4-FFF2-40B4-BE49-F238E27FC236}">
                <a16:creationId xmlns:a16="http://schemas.microsoft.com/office/drawing/2014/main" id="{6BD8B72F-2448-BCCA-4E28-9CE4E0EEF3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6A769B-FBF3-6AF9-D319-5C5F351E397A}"/>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2478542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0555-FD47-3221-B301-BE4A84C6B5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F05A84-92CB-B83F-D88F-DCB0B8F564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B039-5435-68C5-50FF-FA377005AF1F}"/>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5" name="Footer Placeholder 4">
            <a:extLst>
              <a:ext uri="{FF2B5EF4-FFF2-40B4-BE49-F238E27FC236}">
                <a16:creationId xmlns:a16="http://schemas.microsoft.com/office/drawing/2014/main" id="{A0AC6B81-F6C9-C47B-5002-95F85CF22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B47743-7AB4-5640-D4C8-9DF675C94602}"/>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296567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29AB99-A50C-A9BF-9298-6A5BC978D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3D7CA4-FAA1-DD66-8007-C0E92ABC1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DD2240-5EA0-ACC1-729A-AA44EF034135}"/>
              </a:ext>
            </a:extLst>
          </p:cNvPr>
          <p:cNvSpPr>
            <a:spLocks noGrp="1"/>
          </p:cNvSpPr>
          <p:nvPr>
            <p:ph type="dt" sz="half" idx="10"/>
          </p:nvPr>
        </p:nvSpPr>
        <p:spPr/>
        <p:txBody>
          <a:bodyPr/>
          <a:lstStyle/>
          <a:p>
            <a:fld id="{4BEDEC18-7A38-4A1E-9C38-E6AAAA872A6D}" type="datetimeFigureOut">
              <a:rPr lang="en-US" smtClean="0"/>
              <a:t>10/10/2026</a:t>
            </a:fld>
            <a:endParaRPr lang="en-US"/>
          </a:p>
        </p:txBody>
      </p:sp>
      <p:sp>
        <p:nvSpPr>
          <p:cNvPr id="5" name="Footer Placeholder 4">
            <a:extLst>
              <a:ext uri="{FF2B5EF4-FFF2-40B4-BE49-F238E27FC236}">
                <a16:creationId xmlns:a16="http://schemas.microsoft.com/office/drawing/2014/main" id="{AB3CCC17-BF81-6184-075B-40150170C5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D73E2-3FB9-8E70-3D8B-71BE1007BC79}"/>
              </a:ext>
            </a:extLst>
          </p:cNvPr>
          <p:cNvSpPr>
            <a:spLocks noGrp="1"/>
          </p:cNvSpPr>
          <p:nvPr>
            <p:ph type="sldNum" sz="quarter" idx="12"/>
          </p:nvPr>
        </p:nvSpPr>
        <p:spPr/>
        <p:txBody>
          <a:bodyPr/>
          <a:lstStyle/>
          <a:p>
            <a:fld id="{91029E9E-C51B-4EA7-B5E0-1D1F56F3A61B}" type="slidenum">
              <a:rPr lang="en-US" smtClean="0"/>
              <a:t>‹#›</a:t>
            </a:fld>
            <a:endParaRPr lang="en-US"/>
          </a:p>
        </p:txBody>
      </p:sp>
    </p:spTree>
    <p:extLst>
      <p:ext uri="{BB962C8B-B14F-4D97-AF65-F5344CB8AC3E}">
        <p14:creationId xmlns:p14="http://schemas.microsoft.com/office/powerpoint/2010/main" val="647781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D8EAFA-5D09-72A0-BDF3-1F1FB791BD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39253D-0154-756B-4073-CD741C62B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970489-21FA-BB08-F7AC-D97EA2125B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EDEC18-7A38-4A1E-9C38-E6AAAA872A6D}" type="datetimeFigureOut">
              <a:rPr lang="en-US" smtClean="0"/>
              <a:t>10/10/2026</a:t>
            </a:fld>
            <a:endParaRPr lang="en-US"/>
          </a:p>
        </p:txBody>
      </p:sp>
      <p:sp>
        <p:nvSpPr>
          <p:cNvPr id="5" name="Footer Placeholder 4">
            <a:extLst>
              <a:ext uri="{FF2B5EF4-FFF2-40B4-BE49-F238E27FC236}">
                <a16:creationId xmlns:a16="http://schemas.microsoft.com/office/drawing/2014/main" id="{3EB58118-62A9-3749-6C3B-C1F29322CE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FE07F7-96B0-23B0-A905-32AC9AE4CA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029E9E-C51B-4EA7-B5E0-1D1F56F3A61B}" type="slidenum">
              <a:rPr lang="en-US" smtClean="0"/>
              <a:t>‹#›</a:t>
            </a:fld>
            <a:endParaRPr lang="en-US"/>
          </a:p>
        </p:txBody>
      </p:sp>
    </p:spTree>
    <p:extLst>
      <p:ext uri="{BB962C8B-B14F-4D97-AF65-F5344CB8AC3E}">
        <p14:creationId xmlns:p14="http://schemas.microsoft.com/office/powerpoint/2010/main" val="278731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ElyseSardegna/IEM4723_The_Detectiv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data.boston.gov/dataset/crime-incident-reports-august-2015-to-date-source-new-system"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data.boston.gov/dataset/crime-incident-reports-august-2015-to-date-source-new-syste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409A-C5FA-4EBA-3DFD-AEFAC189F34B}"/>
              </a:ext>
            </a:extLst>
          </p:cNvPr>
          <p:cNvSpPr>
            <a:spLocks noGrp="1"/>
          </p:cNvSpPr>
          <p:nvPr>
            <p:ph type="ctrTitle"/>
          </p:nvPr>
        </p:nvSpPr>
        <p:spPr>
          <a:xfrm>
            <a:off x="249370" y="288213"/>
            <a:ext cx="11693259" cy="2917103"/>
          </a:xfrm>
        </p:spPr>
        <p:txBody>
          <a:bodyPr>
            <a:normAutofit/>
          </a:bodyPr>
          <a:lstStyle/>
          <a:p>
            <a:r>
              <a:rPr lang="en-US" sz="3200" b="1">
                <a:latin typeface="Lato" panose="020F0502020204030203" pitchFamily="34" charset="0"/>
                <a:ea typeface="Lato" panose="020F0502020204030203" pitchFamily="34" charset="0"/>
                <a:cs typeface="Lato" panose="020F0502020204030203" pitchFamily="34" charset="0"/>
              </a:rPr>
              <a:t>IEM 4723: Website to Recommend Hotel and Short-Term Rental Locations Based on Crime and Tourism in Boston</a:t>
            </a:r>
            <a:br>
              <a:rPr lang="en-US" sz="3200">
                <a:latin typeface="Lato" panose="020F0502020204030203" pitchFamily="34" charset="0"/>
                <a:ea typeface="Lato" panose="020F0502020204030203" pitchFamily="34" charset="0"/>
                <a:cs typeface="Lato" panose="020F0502020204030203" pitchFamily="34" charset="0"/>
              </a:rPr>
            </a:br>
            <a:br>
              <a:rPr lang="en-US" sz="3200">
                <a:latin typeface="Lato" panose="020F0502020204030203" pitchFamily="34" charset="0"/>
                <a:ea typeface="Lato" panose="020F0502020204030203" pitchFamily="34" charset="0"/>
                <a:cs typeface="Lato" panose="020F0502020204030203" pitchFamily="34" charset="0"/>
              </a:rPr>
            </a:br>
            <a:r>
              <a:rPr lang="en-US" sz="2400" b="1">
                <a:latin typeface="Lato" panose="020F0502020204030203" pitchFamily="34" charset="0"/>
                <a:ea typeface="Lato" panose="020F0502020204030203" pitchFamily="34" charset="0"/>
                <a:cs typeface="Lato" panose="020F0502020204030203" pitchFamily="34" charset="0"/>
              </a:rPr>
              <a:t>By: </a:t>
            </a:r>
            <a:r>
              <a:rPr lang="en-US" sz="2400">
                <a:latin typeface="Lato" panose="020F0502020204030203" pitchFamily="34" charset="0"/>
                <a:ea typeface="Lato" panose="020F0502020204030203" pitchFamily="34" charset="0"/>
                <a:cs typeface="Lato" panose="020F0502020204030203" pitchFamily="34" charset="0"/>
              </a:rPr>
              <a:t>Kate Pritchett, Elyse Sardegna, and Trinity Young</a:t>
            </a:r>
            <a:br>
              <a:rPr lang="en-US" sz="2400">
                <a:latin typeface="Lato" panose="020F0502020204030203" pitchFamily="34" charset="0"/>
                <a:ea typeface="Lato" panose="020F0502020204030203" pitchFamily="34" charset="0"/>
                <a:cs typeface="Lato" panose="020F0502020204030203" pitchFamily="34" charset="0"/>
              </a:rPr>
            </a:br>
            <a:br>
              <a:rPr lang="en-US" sz="3600">
                <a:latin typeface="Lato" panose="020F0502020204030203" pitchFamily="34" charset="0"/>
                <a:ea typeface="Lato" panose="020F0502020204030203" pitchFamily="34" charset="0"/>
                <a:cs typeface="Lato" panose="020F0502020204030203" pitchFamily="34" charset="0"/>
              </a:rPr>
            </a:br>
            <a:r>
              <a:rPr lang="en-US" sz="2400" u="sng">
                <a:latin typeface="Lato" panose="020F0502020204030203" pitchFamily="34" charset="0"/>
                <a:ea typeface="Lato" panose="020F0502020204030203" pitchFamily="34" charset="0"/>
                <a:cs typeface="Lato" panose="020F0502020204030203" pitchFamily="34" charset="0"/>
              </a:rPr>
              <a:t>Project Domain:</a:t>
            </a:r>
            <a:r>
              <a:rPr lang="en-US" sz="2400">
                <a:latin typeface="Lato" panose="020F0502020204030203" pitchFamily="34" charset="0"/>
                <a:ea typeface="Lato" panose="020F0502020204030203" pitchFamily="34" charset="0"/>
                <a:cs typeface="Lato" panose="020F0502020204030203" pitchFamily="34" charset="0"/>
              </a:rPr>
              <a:t> Tourism</a:t>
            </a:r>
            <a:endParaRPr lang="en-US" sz="4000">
              <a:latin typeface="Lato" panose="020F0502020204030203" pitchFamily="34" charset="0"/>
              <a:ea typeface="Lato" panose="020F0502020204030203" pitchFamily="34" charset="0"/>
              <a:cs typeface="Lato" panose="020F0502020204030203" pitchFamily="34" charset="0"/>
            </a:endParaRPr>
          </a:p>
        </p:txBody>
      </p:sp>
      <p:sp>
        <p:nvSpPr>
          <p:cNvPr id="7" name="Subtitle 2">
            <a:extLst>
              <a:ext uri="{FF2B5EF4-FFF2-40B4-BE49-F238E27FC236}">
                <a16:creationId xmlns:a16="http://schemas.microsoft.com/office/drawing/2014/main" id="{C0CE0912-F55C-C3E4-F341-03AB0A3CBA64}"/>
              </a:ext>
            </a:extLst>
          </p:cNvPr>
          <p:cNvSpPr txBox="1">
            <a:spLocks/>
          </p:cNvSpPr>
          <p:nvPr/>
        </p:nvSpPr>
        <p:spPr>
          <a:xfrm>
            <a:off x="668592" y="3552202"/>
            <a:ext cx="10854813" cy="855811"/>
          </a:xfrm>
          <a:prstGeom prst="rect">
            <a:avLst/>
          </a:prstGeom>
        </p:spPr>
        <p:txBody>
          <a:bodyPr vert="horz" lIns="91440" tIns="45720" rIns="91440" bIns="45720" rtlCol="0" anchor="t">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a:t>Repository URL: </a:t>
            </a:r>
            <a:r>
              <a:rPr lang="en-US" sz="2000">
                <a:hlinkClick r:id="rId3"/>
              </a:rPr>
              <a:t>github.com/</a:t>
            </a:r>
            <a:r>
              <a:rPr lang="en-US" sz="2000" err="1">
                <a:hlinkClick r:id="rId3"/>
              </a:rPr>
              <a:t>ElyseSardegna</a:t>
            </a:r>
            <a:r>
              <a:rPr lang="en-US" sz="2000">
                <a:hlinkClick r:id="rId3"/>
              </a:rPr>
              <a:t>/IEM4723_The_Detectives</a:t>
            </a:r>
            <a:r>
              <a:rPr lang="en-US" sz="2000"/>
              <a:t> </a:t>
            </a:r>
            <a:endParaRPr lang="en-US"/>
          </a:p>
          <a:p>
            <a:r>
              <a:rPr lang="en-US" sz="2000" b="1"/>
              <a:t>Data URL: </a:t>
            </a:r>
            <a:r>
              <a:rPr lang="en-US" sz="2000">
                <a:ea typeface="+mn-lt"/>
                <a:cs typeface="+mn-lt"/>
                <a:hlinkClick r:id="rId4"/>
              </a:rPr>
              <a:t>data.boston.gov/dataset/crime-incident-reports-august-2015-to-date-source-new-system</a:t>
            </a:r>
            <a:r>
              <a:rPr lang="en-US" sz="2000">
                <a:ea typeface="+mn-lt"/>
                <a:cs typeface="+mn-lt"/>
              </a:rPr>
              <a:t> </a:t>
            </a:r>
            <a:endParaRPr lang="en-US" sz="2000"/>
          </a:p>
          <a:p>
            <a:endParaRPr lang="en-US" b="1"/>
          </a:p>
        </p:txBody>
      </p:sp>
      <p:sp>
        <p:nvSpPr>
          <p:cNvPr id="9" name="TextBox 8">
            <a:extLst>
              <a:ext uri="{FF2B5EF4-FFF2-40B4-BE49-F238E27FC236}">
                <a16:creationId xmlns:a16="http://schemas.microsoft.com/office/drawing/2014/main" id="{0FF99BD8-79A7-42AE-B4CF-8F840A756B87}"/>
              </a:ext>
            </a:extLst>
          </p:cNvPr>
          <p:cNvSpPr txBox="1"/>
          <p:nvPr/>
        </p:nvSpPr>
        <p:spPr>
          <a:xfrm>
            <a:off x="668592" y="4746525"/>
            <a:ext cx="11002296" cy="1754326"/>
          </a:xfrm>
          <a:prstGeom prst="rect">
            <a:avLst/>
          </a:prstGeom>
          <a:noFill/>
        </p:spPr>
        <p:txBody>
          <a:bodyPr wrap="square" rtlCol="0">
            <a:spAutoFit/>
          </a:bodyPr>
          <a:lstStyle/>
          <a:p>
            <a:r>
              <a:rPr lang="en-US" b="1">
                <a:latin typeface="Lato" panose="020F0502020204030203" pitchFamily="34" charset="0"/>
                <a:ea typeface="Lato" panose="020F0502020204030203" pitchFamily="34" charset="0"/>
                <a:cs typeface="Lato" panose="020F0502020204030203" pitchFamily="34" charset="0"/>
              </a:rPr>
              <a:t>Problem Statement: </a:t>
            </a:r>
            <a:r>
              <a:rPr lang="en-US">
                <a:latin typeface="Lato" panose="020F0502020204030203" pitchFamily="34" charset="0"/>
                <a:ea typeface="Lato" panose="020F0502020204030203" pitchFamily="34" charset="0"/>
                <a:cs typeface="Lato" panose="020F0502020204030203" pitchFamily="34" charset="0"/>
              </a:rPr>
              <a:t>Tourists who are looking to travel to the Boston area need to be aware of which hotel or short-term rental locations will place them in an ideal location for tourism while ensuring their safety. Ideal lodging should be determined by comparing the user’s selected tourist locations with both the crime densities in those areas and the available hotel or short-term rental options in the surrounding region.  </a:t>
            </a:r>
          </a:p>
          <a:p>
            <a:r>
              <a:rPr lang="en-US">
                <a:latin typeface="Lato" panose="020F0502020204030203" pitchFamily="34" charset="0"/>
                <a:ea typeface="Lato" panose="020F0502020204030203" pitchFamily="34" charset="0"/>
                <a:cs typeface="Lato" panose="020F0502020204030203" pitchFamily="34" charset="0"/>
              </a:rPr>
              <a:t>This information system should be developed for the sake of tourists. It is intended to match the access to desired tourist locations defined by the user with safe housing options in the Boston area. </a:t>
            </a:r>
          </a:p>
        </p:txBody>
      </p:sp>
    </p:spTree>
    <p:extLst>
      <p:ext uri="{BB962C8B-B14F-4D97-AF65-F5344CB8AC3E}">
        <p14:creationId xmlns:p14="http://schemas.microsoft.com/office/powerpoint/2010/main" val="90153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2115B-81E5-69E7-7CC1-F6BDB0C7F6B1}"/>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0A2CC8F4-12DE-37DE-6A63-995130E9DDDF}"/>
              </a:ext>
            </a:extLst>
          </p:cNvPr>
          <p:cNvSpPr txBox="1"/>
          <p:nvPr/>
        </p:nvSpPr>
        <p:spPr>
          <a:xfrm>
            <a:off x="146327" y="163649"/>
            <a:ext cx="6668437"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100"/>
              </a:spcAft>
            </a:pPr>
            <a:r>
              <a:rPr lang="en-US" sz="1500" b="1">
                <a:latin typeface="Lato" panose="020F0502020204030203" pitchFamily="34" charset="0"/>
                <a:ea typeface="Lato" panose="020F0502020204030203" pitchFamily="34" charset="0"/>
                <a:cs typeface="Lato" panose="020F0502020204030203" pitchFamily="34" charset="0"/>
              </a:rPr>
              <a:t>GitHub Repository:</a:t>
            </a:r>
            <a:r>
              <a:rPr lang="en-US" sz="1500">
                <a:latin typeface="Lato" panose="020F0502020204030203" pitchFamily="34" charset="0"/>
                <a:ea typeface="Lato" panose="020F0502020204030203" pitchFamily="34" charset="0"/>
                <a:cs typeface="Lato" panose="020F0502020204030203" pitchFamily="34" charset="0"/>
              </a:rPr>
              <a:t> Contains the CSV data files, a README outlining the project, </a:t>
            </a:r>
            <a:r>
              <a:rPr lang="en-US" sz="1500" err="1">
                <a:latin typeface="Lato" panose="020F0502020204030203" pitchFamily="34" charset="0"/>
                <a:ea typeface="Lato" panose="020F0502020204030203" pitchFamily="34" charset="0"/>
                <a:cs typeface="Lato" panose="020F0502020204030203" pitchFamily="34" charset="0"/>
              </a:rPr>
              <a:t>Dockerfiles</a:t>
            </a:r>
            <a:r>
              <a:rPr lang="en-US" sz="1500">
                <a:latin typeface="Lato" panose="020F0502020204030203" pitchFamily="34" charset="0"/>
                <a:ea typeface="Lato" panose="020F0502020204030203" pitchFamily="34" charset="0"/>
                <a:cs typeface="Lato" panose="020F0502020204030203" pitchFamily="34" charset="0"/>
              </a:rPr>
              <a:t>, and one Jupyter notebook per group member. Each member will be a collaborator rather than forking the repository and will work on their own branch, not main. A new "Production" branch will contain the finalized MySQL database and Python algorithm.</a:t>
            </a:r>
            <a:endParaRPr lang="en-US">
              <a:latin typeface="Lato" panose="020F0502020204030203" pitchFamily="34" charset="0"/>
              <a:ea typeface="Lato" panose="020F0502020204030203" pitchFamily="34" charset="0"/>
              <a:cs typeface="Lato" panose="020F0502020204030203" pitchFamily="34" charset="0"/>
            </a:endParaRPr>
          </a:p>
          <a:p>
            <a:pPr algn="just">
              <a:spcAft>
                <a:spcPts val="100"/>
              </a:spcAft>
            </a:pPr>
            <a:endParaRPr lang="en-US" sz="600">
              <a:latin typeface="Lato" panose="020F0502020204030203" pitchFamily="34" charset="0"/>
              <a:ea typeface="Lato" panose="020F0502020204030203" pitchFamily="34" charset="0"/>
              <a:cs typeface="Lato" panose="020F0502020204030203" pitchFamily="34" charset="0"/>
            </a:endParaRPr>
          </a:p>
          <a:p>
            <a:pPr algn="just">
              <a:spcAft>
                <a:spcPts val="100"/>
              </a:spcAft>
            </a:pPr>
            <a:r>
              <a:rPr lang="en-US" sz="1500" b="1">
                <a:latin typeface="Lato" panose="020F0502020204030203" pitchFamily="34" charset="0"/>
                <a:ea typeface="Lato" panose="020F0502020204030203" pitchFamily="34" charset="0"/>
                <a:cs typeface="Lato" panose="020F0502020204030203" pitchFamily="34" charset="0"/>
              </a:rPr>
              <a:t>Containers:</a:t>
            </a:r>
            <a:r>
              <a:rPr lang="en-US" sz="1500">
                <a:latin typeface="Lato" panose="020F0502020204030203" pitchFamily="34" charset="0"/>
                <a:ea typeface="Lato" panose="020F0502020204030203" pitchFamily="34" charset="0"/>
                <a:cs typeface="Lato" panose="020F0502020204030203" pitchFamily="34" charset="0"/>
              </a:rPr>
              <a:t> Hosted through Docker Hub. The initial shared </a:t>
            </a:r>
            <a:r>
              <a:rPr lang="en-US" sz="1500" err="1">
                <a:latin typeface="Lato" panose="020F0502020204030203" pitchFamily="34" charset="0"/>
                <a:ea typeface="Lato" panose="020F0502020204030203" pitchFamily="34" charset="0"/>
                <a:cs typeface="Lato" panose="020F0502020204030203" pitchFamily="34" charset="0"/>
              </a:rPr>
              <a:t>Dockerfile</a:t>
            </a:r>
            <a:r>
              <a:rPr lang="en-US" sz="1500">
                <a:latin typeface="Lato" panose="020F0502020204030203" pitchFamily="34" charset="0"/>
                <a:ea typeface="Lato" panose="020F0502020204030203" pitchFamily="34" charset="0"/>
                <a:cs typeface="Lato" panose="020F0502020204030203" pitchFamily="34" charset="0"/>
              </a:rPr>
              <a:t> will mimic the phpMyAdmin and Jupyter containers created by Dr. Ramanan for development and testing. A second </a:t>
            </a:r>
            <a:r>
              <a:rPr lang="en-US" sz="1500" err="1">
                <a:latin typeface="Lato" panose="020F0502020204030203" pitchFamily="34" charset="0"/>
                <a:ea typeface="Lato" panose="020F0502020204030203" pitchFamily="34" charset="0"/>
                <a:cs typeface="Lato" panose="020F0502020204030203" pitchFamily="34" charset="0"/>
              </a:rPr>
              <a:t>Dockerfile</a:t>
            </a:r>
            <a:r>
              <a:rPr lang="en-US" sz="1500">
                <a:latin typeface="Lato" panose="020F0502020204030203" pitchFamily="34" charset="0"/>
                <a:ea typeface="Lato" panose="020F0502020204030203" pitchFamily="34" charset="0"/>
                <a:cs typeface="Lato" panose="020F0502020204030203" pitchFamily="34" charset="0"/>
              </a:rPr>
              <a:t> in the Production branch will contain the finalized components needed to connect the system to </a:t>
            </a:r>
            <a:r>
              <a:rPr lang="en-US" sz="1500" err="1">
                <a:latin typeface="Lato" panose="020F0502020204030203" pitchFamily="34" charset="0"/>
                <a:ea typeface="Lato" panose="020F0502020204030203" pitchFamily="34" charset="0"/>
                <a:cs typeface="Lato" panose="020F0502020204030203" pitchFamily="34" charset="0"/>
              </a:rPr>
              <a:t>Streamlit</a:t>
            </a:r>
            <a:r>
              <a:rPr lang="en-US" sz="1500">
                <a:latin typeface="Lato" panose="020F0502020204030203" pitchFamily="34" charset="0"/>
                <a:ea typeface="Lato" panose="020F0502020204030203" pitchFamily="34" charset="0"/>
                <a:cs typeface="Lato" panose="020F0502020204030203" pitchFamily="34" charset="0"/>
              </a:rPr>
              <a:t>.</a:t>
            </a:r>
          </a:p>
          <a:p>
            <a:pPr algn="just">
              <a:spcAft>
                <a:spcPts val="100"/>
              </a:spcAft>
            </a:pPr>
            <a:endParaRPr lang="en-US" sz="600">
              <a:latin typeface="Lato" panose="020F0502020204030203" pitchFamily="34" charset="0"/>
              <a:ea typeface="Lato" panose="020F0502020204030203" pitchFamily="34" charset="0"/>
              <a:cs typeface="Lato" panose="020F0502020204030203" pitchFamily="34" charset="0"/>
            </a:endParaRPr>
          </a:p>
          <a:p>
            <a:pPr algn="just">
              <a:spcAft>
                <a:spcPts val="100"/>
              </a:spcAft>
            </a:pPr>
            <a:r>
              <a:rPr lang="en-US" sz="1500" b="1">
                <a:latin typeface="Lato" panose="020F0502020204030203" pitchFamily="34" charset="0"/>
                <a:ea typeface="Lato" panose="020F0502020204030203" pitchFamily="34" charset="0"/>
                <a:cs typeface="Lato" panose="020F0502020204030203" pitchFamily="34" charset="0"/>
              </a:rPr>
              <a:t>Data Structure:</a:t>
            </a:r>
            <a:r>
              <a:rPr lang="en-US" sz="1500">
                <a:latin typeface="Lato" panose="020F0502020204030203" pitchFamily="34" charset="0"/>
                <a:ea typeface="Lato" panose="020F0502020204030203" pitchFamily="34" charset="0"/>
                <a:cs typeface="Lato" panose="020F0502020204030203" pitchFamily="34" charset="0"/>
              </a:rPr>
              <a:t> Initially handled as CSV files then cleaned and manipulated using SQL. Once the final database structure is established, the cleaned data will be uploaded to the production MySQL container. The production database will be accessed by pre-written Python scripts.</a:t>
            </a:r>
          </a:p>
          <a:p>
            <a:pPr algn="just">
              <a:spcAft>
                <a:spcPts val="100"/>
              </a:spcAft>
            </a:pPr>
            <a:endParaRPr lang="en-US" sz="600">
              <a:latin typeface="Lato" panose="020F0502020204030203" pitchFamily="34" charset="0"/>
              <a:ea typeface="Lato" panose="020F0502020204030203" pitchFamily="34" charset="0"/>
              <a:cs typeface="Lato" panose="020F0502020204030203" pitchFamily="34" charset="0"/>
            </a:endParaRPr>
          </a:p>
          <a:p>
            <a:pPr algn="just">
              <a:spcAft>
                <a:spcPts val="100"/>
              </a:spcAft>
            </a:pPr>
            <a:r>
              <a:rPr lang="en-US" sz="1500" b="1" err="1">
                <a:latin typeface="Lato" panose="020F0502020204030203" pitchFamily="34" charset="0"/>
                <a:ea typeface="Lato" panose="020F0502020204030203" pitchFamily="34" charset="0"/>
                <a:cs typeface="Lato" panose="020F0502020204030203" pitchFamily="34" charset="0"/>
              </a:rPr>
              <a:t>Streamlit</a:t>
            </a:r>
            <a:r>
              <a:rPr lang="en-US" sz="1500" b="1">
                <a:latin typeface="Lato" panose="020F0502020204030203" pitchFamily="34" charset="0"/>
                <a:ea typeface="Lato" panose="020F0502020204030203" pitchFamily="34" charset="0"/>
                <a:cs typeface="Lato" panose="020F0502020204030203" pitchFamily="34" charset="0"/>
              </a:rPr>
              <a:t> App: </a:t>
            </a:r>
            <a:r>
              <a:rPr lang="en-US" sz="1500">
                <a:latin typeface="Lato" panose="020F0502020204030203" pitchFamily="34" charset="0"/>
                <a:ea typeface="Lato" panose="020F0502020204030203" pitchFamily="34" charset="0"/>
                <a:cs typeface="Lato" panose="020F0502020204030203" pitchFamily="34" charset="0"/>
              </a:rPr>
              <a:t>Users will select 5 attractions and rank their importance from 1–5 from a list. The map will display Boston with selected attractions as green dots, reported crimes as red dots, and the recommended lodging location marked with a larger symbol.</a:t>
            </a:r>
          </a:p>
        </p:txBody>
      </p:sp>
      <p:grpSp>
        <p:nvGrpSpPr>
          <p:cNvPr id="23" name="Group 22">
            <a:extLst>
              <a:ext uri="{FF2B5EF4-FFF2-40B4-BE49-F238E27FC236}">
                <a16:creationId xmlns:a16="http://schemas.microsoft.com/office/drawing/2014/main" id="{2F5CE3E5-6363-79B9-CCD3-B4ED388EC7CB}"/>
              </a:ext>
            </a:extLst>
          </p:cNvPr>
          <p:cNvGrpSpPr/>
          <p:nvPr/>
        </p:nvGrpSpPr>
        <p:grpSpPr>
          <a:xfrm>
            <a:off x="1274491" y="4489241"/>
            <a:ext cx="4538507" cy="2259448"/>
            <a:chOff x="6491259" y="3321296"/>
            <a:chExt cx="5467978" cy="2829697"/>
          </a:xfrm>
        </p:grpSpPr>
        <p:sp>
          <p:nvSpPr>
            <p:cNvPr id="2" name="TextBox 1">
              <a:extLst>
                <a:ext uri="{FF2B5EF4-FFF2-40B4-BE49-F238E27FC236}">
                  <a16:creationId xmlns:a16="http://schemas.microsoft.com/office/drawing/2014/main" id="{53923400-3A36-2F3E-F6BA-8D417C936798}"/>
                </a:ext>
              </a:extLst>
            </p:cNvPr>
            <p:cNvSpPr txBox="1"/>
            <p:nvPr/>
          </p:nvSpPr>
          <p:spPr>
            <a:xfrm>
              <a:off x="6601761" y="3839266"/>
              <a:ext cx="1168289" cy="1040727"/>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200">
                  <a:latin typeface="Lato" panose="020F0502020204030203" pitchFamily="34" charset="0"/>
                  <a:ea typeface="Lato" panose="020F0502020204030203" pitchFamily="34" charset="0"/>
                  <a:cs typeface="Lato" panose="020F0502020204030203" pitchFamily="34" charset="0"/>
                </a:rPr>
                <a:t>Boston Crime CSV</a:t>
              </a:r>
            </a:p>
            <a:p>
              <a:pPr algn="ctr"/>
              <a:r>
                <a:rPr lang="en-US" sz="1200">
                  <a:latin typeface="Lato" panose="020F0502020204030203" pitchFamily="34" charset="0"/>
                  <a:ea typeface="Lato" panose="020F0502020204030203" pitchFamily="34" charset="0"/>
                  <a:cs typeface="Lato" panose="020F0502020204030203" pitchFamily="34" charset="0"/>
                </a:rPr>
                <a:t>Attractions CSV</a:t>
              </a:r>
            </a:p>
          </p:txBody>
        </p:sp>
        <p:sp>
          <p:nvSpPr>
            <p:cNvPr id="4" name="TextBox 3">
              <a:extLst>
                <a:ext uri="{FF2B5EF4-FFF2-40B4-BE49-F238E27FC236}">
                  <a16:creationId xmlns:a16="http://schemas.microsoft.com/office/drawing/2014/main" id="{8CF88411-D6D9-A0DC-BBBA-90767E2C88AF}"/>
                </a:ext>
              </a:extLst>
            </p:cNvPr>
            <p:cNvSpPr txBox="1"/>
            <p:nvPr/>
          </p:nvSpPr>
          <p:spPr>
            <a:xfrm>
              <a:off x="8057128" y="3947527"/>
              <a:ext cx="1440264" cy="8094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200">
                  <a:latin typeface="Lato" panose="020F0502020204030203" pitchFamily="34" charset="0"/>
                  <a:ea typeface="Lato" panose="020F0502020204030203" pitchFamily="34" charset="0"/>
                  <a:cs typeface="Lato" panose="020F0502020204030203" pitchFamily="34" charset="0"/>
                </a:rPr>
                <a:t>Jupyter &amp; phpMyAdmin Container</a:t>
              </a:r>
            </a:p>
          </p:txBody>
        </p:sp>
        <p:sp>
          <p:nvSpPr>
            <p:cNvPr id="6" name="TextBox 5">
              <a:extLst>
                <a:ext uri="{FF2B5EF4-FFF2-40B4-BE49-F238E27FC236}">
                  <a16:creationId xmlns:a16="http://schemas.microsoft.com/office/drawing/2014/main" id="{A1BA6660-8ED8-B323-8111-395CF9EE4CC8}"/>
                </a:ext>
              </a:extLst>
            </p:cNvPr>
            <p:cNvSpPr txBox="1"/>
            <p:nvPr/>
          </p:nvSpPr>
          <p:spPr>
            <a:xfrm>
              <a:off x="10033303" y="4162853"/>
              <a:ext cx="1457012" cy="34690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200">
                  <a:latin typeface="Lato" panose="020F0502020204030203" pitchFamily="34" charset="0"/>
                  <a:ea typeface="Lato" panose="020F0502020204030203" pitchFamily="34" charset="0"/>
                  <a:cs typeface="Lato" panose="020F0502020204030203" pitchFamily="34" charset="0"/>
                </a:rPr>
                <a:t>Cleaned Data</a:t>
              </a:r>
            </a:p>
          </p:txBody>
        </p:sp>
        <p:sp>
          <p:nvSpPr>
            <p:cNvPr id="7" name="TextBox 6">
              <a:extLst>
                <a:ext uri="{FF2B5EF4-FFF2-40B4-BE49-F238E27FC236}">
                  <a16:creationId xmlns:a16="http://schemas.microsoft.com/office/drawing/2014/main" id="{8AD7E97E-C31A-1675-7B9C-7875635FEFAA}"/>
                </a:ext>
              </a:extLst>
            </p:cNvPr>
            <p:cNvSpPr txBox="1"/>
            <p:nvPr/>
          </p:nvSpPr>
          <p:spPr>
            <a:xfrm>
              <a:off x="9664863" y="4755582"/>
              <a:ext cx="2135275" cy="8094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200">
                  <a:latin typeface="Lato" panose="020F0502020204030203" pitchFamily="34" charset="0"/>
                  <a:ea typeface="Lato" panose="020F0502020204030203" pitchFamily="34" charset="0"/>
                  <a:cs typeface="Lato" panose="020F0502020204030203" pitchFamily="34" charset="0"/>
                </a:rPr>
                <a:t>MySQL database &amp; Python Algorithm container</a:t>
              </a:r>
            </a:p>
          </p:txBody>
        </p:sp>
        <p:sp>
          <p:nvSpPr>
            <p:cNvPr id="8" name="TextBox 7">
              <a:extLst>
                <a:ext uri="{FF2B5EF4-FFF2-40B4-BE49-F238E27FC236}">
                  <a16:creationId xmlns:a16="http://schemas.microsoft.com/office/drawing/2014/main" id="{7F1785EC-F0E4-7C50-744E-77D82F943E39}"/>
                </a:ext>
              </a:extLst>
            </p:cNvPr>
            <p:cNvSpPr txBox="1"/>
            <p:nvPr/>
          </p:nvSpPr>
          <p:spPr>
            <a:xfrm>
              <a:off x="9756974" y="5804084"/>
              <a:ext cx="2059912" cy="34690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200" err="1">
                  <a:latin typeface="Lato" panose="020F0502020204030203" pitchFamily="34" charset="0"/>
                  <a:ea typeface="Lato" panose="020F0502020204030203" pitchFamily="34" charset="0"/>
                  <a:cs typeface="Lato" panose="020F0502020204030203" pitchFamily="34" charset="0"/>
                </a:rPr>
                <a:t>Streamlit</a:t>
              </a:r>
              <a:r>
                <a:rPr lang="en-US" sz="1200">
                  <a:latin typeface="Lato" panose="020F0502020204030203" pitchFamily="34" charset="0"/>
                  <a:ea typeface="Lato" panose="020F0502020204030203" pitchFamily="34" charset="0"/>
                  <a:cs typeface="Lato" panose="020F0502020204030203" pitchFamily="34" charset="0"/>
                </a:rPr>
                <a:t> UI</a:t>
              </a:r>
            </a:p>
          </p:txBody>
        </p:sp>
        <p:cxnSp>
          <p:nvCxnSpPr>
            <p:cNvPr id="9" name="Straight Arrow Connector 8">
              <a:extLst>
                <a:ext uri="{FF2B5EF4-FFF2-40B4-BE49-F238E27FC236}">
                  <a16:creationId xmlns:a16="http://schemas.microsoft.com/office/drawing/2014/main" id="{1FF1A763-D3D5-78D0-AFB6-687E5C91C41E}"/>
                </a:ext>
              </a:extLst>
            </p:cNvPr>
            <p:cNvCxnSpPr/>
            <p:nvPr/>
          </p:nvCxnSpPr>
          <p:spPr>
            <a:xfrm flipV="1">
              <a:off x="7747304" y="4344551"/>
              <a:ext cx="311498" cy="66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52BF4F4-80B4-867B-9A70-061800D7BC4C}"/>
                </a:ext>
              </a:extLst>
            </p:cNvPr>
            <p:cNvCxnSpPr>
              <a:cxnSpLocks/>
            </p:cNvCxnSpPr>
            <p:nvPr/>
          </p:nvCxnSpPr>
          <p:spPr>
            <a:xfrm>
              <a:off x="9489017" y="4359623"/>
              <a:ext cx="537586" cy="167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664AD3-9EE9-BAA6-04A4-033373813098}"/>
                </a:ext>
              </a:extLst>
            </p:cNvPr>
            <p:cNvCxnSpPr>
              <a:cxnSpLocks/>
            </p:cNvCxnSpPr>
            <p:nvPr/>
          </p:nvCxnSpPr>
          <p:spPr>
            <a:xfrm>
              <a:off x="10803678" y="4485228"/>
              <a:ext cx="1673" cy="25288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CDF9ADD-B1BF-6E81-58FA-93B7C4439AB0}"/>
                </a:ext>
              </a:extLst>
            </p:cNvPr>
            <p:cNvSpPr txBox="1"/>
            <p:nvPr/>
          </p:nvSpPr>
          <p:spPr>
            <a:xfrm>
              <a:off x="6491259" y="3321296"/>
              <a:ext cx="3089866" cy="423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u="sng">
                  <a:latin typeface="Lato" panose="020F0502020204030203" pitchFamily="34" charset="0"/>
                  <a:ea typeface="Lato" panose="020F0502020204030203" pitchFamily="34" charset="0"/>
                  <a:cs typeface="Lato" panose="020F0502020204030203" pitchFamily="34" charset="0"/>
                </a:rPr>
                <a:t>Development</a:t>
              </a:r>
            </a:p>
          </p:txBody>
        </p:sp>
        <p:sp>
          <p:nvSpPr>
            <p:cNvPr id="15" name="TextBox 14">
              <a:extLst>
                <a:ext uri="{FF2B5EF4-FFF2-40B4-BE49-F238E27FC236}">
                  <a16:creationId xmlns:a16="http://schemas.microsoft.com/office/drawing/2014/main" id="{9FFC7FC8-BF15-65D0-DF1C-8D4E26531841}"/>
                </a:ext>
              </a:extLst>
            </p:cNvPr>
            <p:cNvSpPr txBox="1"/>
            <p:nvPr/>
          </p:nvSpPr>
          <p:spPr>
            <a:xfrm>
              <a:off x="9497391" y="3338042"/>
              <a:ext cx="2461846" cy="423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u="sng">
                  <a:latin typeface="Lato" panose="020F0502020204030203" pitchFamily="34" charset="0"/>
                  <a:ea typeface="Lato" panose="020F0502020204030203" pitchFamily="34" charset="0"/>
                  <a:cs typeface="Lato" panose="020F0502020204030203" pitchFamily="34" charset="0"/>
                </a:rPr>
                <a:t>Production</a:t>
              </a:r>
            </a:p>
          </p:txBody>
        </p:sp>
        <p:cxnSp>
          <p:nvCxnSpPr>
            <p:cNvPr id="22" name="Straight Arrow Connector 21">
              <a:extLst>
                <a:ext uri="{FF2B5EF4-FFF2-40B4-BE49-F238E27FC236}">
                  <a16:creationId xmlns:a16="http://schemas.microsoft.com/office/drawing/2014/main" id="{17835CCD-90E6-6917-31CF-C7A00EC9A2F7}"/>
                </a:ext>
              </a:extLst>
            </p:cNvPr>
            <p:cNvCxnSpPr>
              <a:cxnSpLocks/>
            </p:cNvCxnSpPr>
            <p:nvPr/>
          </p:nvCxnSpPr>
          <p:spPr>
            <a:xfrm>
              <a:off x="10812050" y="5557051"/>
              <a:ext cx="1673" cy="25288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34A28160-7B3A-48F7-01B5-2A64F13FCB6E}"/>
              </a:ext>
            </a:extLst>
          </p:cNvPr>
          <p:cNvGrpSpPr/>
          <p:nvPr/>
        </p:nvGrpSpPr>
        <p:grpSpPr>
          <a:xfrm>
            <a:off x="7195280" y="268948"/>
            <a:ext cx="5127936" cy="3018662"/>
            <a:chOff x="7131780" y="119183"/>
            <a:chExt cx="5127936" cy="3018662"/>
          </a:xfrm>
        </p:grpSpPr>
        <p:sp>
          <p:nvSpPr>
            <p:cNvPr id="19" name="Rectangle 18">
              <a:extLst>
                <a:ext uri="{FF2B5EF4-FFF2-40B4-BE49-F238E27FC236}">
                  <a16:creationId xmlns:a16="http://schemas.microsoft.com/office/drawing/2014/main" id="{3A5B031F-891A-6CC9-02E8-4B0D23B8656E}"/>
                </a:ext>
              </a:extLst>
            </p:cNvPr>
            <p:cNvSpPr/>
            <p:nvPr/>
          </p:nvSpPr>
          <p:spPr>
            <a:xfrm>
              <a:off x="7131780" y="618434"/>
              <a:ext cx="4767748" cy="222532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96E81D9-9DFA-70FF-8BB7-7C309DA95EFC}"/>
                </a:ext>
              </a:extLst>
            </p:cNvPr>
            <p:cNvSpPr txBox="1"/>
            <p:nvPr/>
          </p:nvSpPr>
          <p:spPr>
            <a:xfrm>
              <a:off x="7236875" y="980078"/>
              <a:ext cx="247373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Lato" panose="020F0502020204030203" pitchFamily="34" charset="0"/>
                  <a:ea typeface="Lato" panose="020F0502020204030203" pitchFamily="34" charset="0"/>
                  <a:cs typeface="Lato" panose="020F0502020204030203" pitchFamily="34" charset="0"/>
                </a:rPr>
                <a:t>Crime Data</a:t>
              </a:r>
            </a:p>
            <a:p>
              <a:pPr marL="285750" indent="-285750">
                <a:buFont typeface="Arial"/>
                <a:buChar char="•"/>
              </a:pPr>
              <a:r>
                <a:rPr lang="en-US" err="1">
                  <a:latin typeface="Lato" panose="020F0502020204030203" pitchFamily="34" charset="0"/>
                  <a:ea typeface="Lato" panose="020F0502020204030203" pitchFamily="34" charset="0"/>
                  <a:cs typeface="Lato" panose="020F0502020204030203" pitchFamily="34" charset="0"/>
                </a:rPr>
                <a:t>CrimeID</a:t>
              </a:r>
              <a:r>
                <a:rPr lang="en-US">
                  <a:latin typeface="Lato" panose="020F0502020204030203" pitchFamily="34" charset="0"/>
                  <a:ea typeface="Lato" panose="020F0502020204030203" pitchFamily="34" charset="0"/>
                  <a:cs typeface="Lato" panose="020F0502020204030203" pitchFamily="34" charset="0"/>
                </a:rPr>
                <a:t> (Primary)</a:t>
              </a:r>
            </a:p>
            <a:p>
              <a:pPr marL="285750" indent="-285750">
                <a:buFont typeface="Arial"/>
                <a:buChar char="•"/>
              </a:pPr>
              <a:r>
                <a:rPr lang="en-US">
                  <a:latin typeface="Lato" panose="020F0502020204030203" pitchFamily="34" charset="0"/>
                  <a:ea typeface="Lato" panose="020F0502020204030203" pitchFamily="34" charset="0"/>
                  <a:cs typeface="Lato" panose="020F0502020204030203" pitchFamily="34" charset="0"/>
                </a:rPr>
                <a:t>Latitude</a:t>
              </a:r>
            </a:p>
            <a:p>
              <a:pPr marL="285750" indent="-285750">
                <a:buFont typeface="Arial"/>
                <a:buChar char="•"/>
              </a:pPr>
              <a:r>
                <a:rPr lang="en-US">
                  <a:latin typeface="Lato" panose="020F0502020204030203" pitchFamily="34" charset="0"/>
                  <a:ea typeface="Lato" panose="020F0502020204030203" pitchFamily="34" charset="0"/>
                  <a:cs typeface="Lato" panose="020F0502020204030203" pitchFamily="34" charset="0"/>
                </a:rPr>
                <a:t>Longitude</a:t>
              </a:r>
            </a:p>
            <a:p>
              <a:pPr marL="285750" indent="-285750">
                <a:buFont typeface="Arial"/>
                <a:buChar char="•"/>
              </a:pPr>
              <a:r>
                <a:rPr lang="en-US">
                  <a:latin typeface="Lato" panose="020F0502020204030203" pitchFamily="34" charset="0"/>
                  <a:ea typeface="Lato" panose="020F0502020204030203" pitchFamily="34" charset="0"/>
                  <a:cs typeface="Lato" panose="020F0502020204030203" pitchFamily="34" charset="0"/>
                </a:rPr>
                <a:t>Date</a:t>
              </a:r>
            </a:p>
            <a:p>
              <a:pPr marL="285750" indent="-285750">
                <a:buFont typeface="Arial"/>
                <a:buChar char="•"/>
              </a:pPr>
              <a:r>
                <a:rPr lang="en-US">
                  <a:latin typeface="Lato" panose="020F0502020204030203" pitchFamily="34" charset="0"/>
                  <a:ea typeface="Lato" panose="020F0502020204030203" pitchFamily="34" charset="0"/>
                  <a:cs typeface="Lato" panose="020F0502020204030203" pitchFamily="34" charset="0"/>
                </a:rPr>
                <a:t>Type</a:t>
              </a:r>
            </a:p>
          </p:txBody>
        </p:sp>
        <p:sp>
          <p:nvSpPr>
            <p:cNvPr id="18" name="TextBox 17">
              <a:extLst>
                <a:ext uri="{FF2B5EF4-FFF2-40B4-BE49-F238E27FC236}">
                  <a16:creationId xmlns:a16="http://schemas.microsoft.com/office/drawing/2014/main" id="{6EB1E049-7B82-123A-3C66-5DA73591EF11}"/>
                </a:ext>
              </a:extLst>
            </p:cNvPr>
            <p:cNvSpPr txBox="1"/>
            <p:nvPr/>
          </p:nvSpPr>
          <p:spPr>
            <a:xfrm>
              <a:off x="9785977" y="980078"/>
              <a:ext cx="247373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Lato" panose="020F0502020204030203" pitchFamily="34" charset="0"/>
                  <a:ea typeface="Lato" panose="020F0502020204030203" pitchFamily="34" charset="0"/>
                  <a:cs typeface="Lato" panose="020F0502020204030203" pitchFamily="34" charset="0"/>
                </a:rPr>
                <a:t>Attractions</a:t>
              </a:r>
            </a:p>
            <a:p>
              <a:pPr marL="285750" indent="-285750">
                <a:buFont typeface="Arial"/>
                <a:buChar char="•"/>
              </a:pPr>
              <a:r>
                <a:rPr lang="en-US">
                  <a:latin typeface="Lato" panose="020F0502020204030203" pitchFamily="34" charset="0"/>
                  <a:ea typeface="Lato" panose="020F0502020204030203" pitchFamily="34" charset="0"/>
                  <a:cs typeface="Lato" panose="020F0502020204030203" pitchFamily="34" charset="0"/>
                </a:rPr>
                <a:t>Attraction Name (Primary)</a:t>
              </a:r>
            </a:p>
            <a:p>
              <a:pPr marL="285750" indent="-285750">
                <a:buFont typeface="Arial"/>
                <a:buChar char="•"/>
              </a:pPr>
              <a:r>
                <a:rPr lang="en-US">
                  <a:latin typeface="Lato" panose="020F0502020204030203" pitchFamily="34" charset="0"/>
                  <a:ea typeface="Lato" panose="020F0502020204030203" pitchFamily="34" charset="0"/>
                  <a:cs typeface="Lato" panose="020F0502020204030203" pitchFamily="34" charset="0"/>
                </a:rPr>
                <a:t>Latitude</a:t>
              </a:r>
            </a:p>
            <a:p>
              <a:pPr marL="285750" indent="-285750">
                <a:buFont typeface="Arial"/>
                <a:buChar char="•"/>
              </a:pPr>
              <a:r>
                <a:rPr lang="en-US">
                  <a:latin typeface="Lato" panose="020F0502020204030203" pitchFamily="34" charset="0"/>
                  <a:ea typeface="Lato" panose="020F0502020204030203" pitchFamily="34" charset="0"/>
                  <a:cs typeface="Lato" panose="020F0502020204030203" pitchFamily="34" charset="0"/>
                </a:rPr>
                <a:t>Longitude</a:t>
              </a:r>
            </a:p>
            <a:p>
              <a:pPr marL="285750" indent="-285750">
                <a:buFont typeface="Arial"/>
                <a:buChar char="•"/>
              </a:pPr>
              <a:r>
                <a:rPr lang="en-US">
                  <a:latin typeface="Lato" panose="020F0502020204030203" pitchFamily="34" charset="0"/>
                  <a:ea typeface="Lato" panose="020F0502020204030203" pitchFamily="34" charset="0"/>
                  <a:cs typeface="Lato" panose="020F0502020204030203" pitchFamily="34" charset="0"/>
                </a:rPr>
                <a:t>User Weight</a:t>
              </a:r>
            </a:p>
          </p:txBody>
        </p:sp>
        <p:sp>
          <p:nvSpPr>
            <p:cNvPr id="20" name="TextBox 19">
              <a:extLst>
                <a:ext uri="{FF2B5EF4-FFF2-40B4-BE49-F238E27FC236}">
                  <a16:creationId xmlns:a16="http://schemas.microsoft.com/office/drawing/2014/main" id="{617FD726-E058-9288-DF5B-0123B102B642}"/>
                </a:ext>
              </a:extLst>
            </p:cNvPr>
            <p:cNvSpPr txBox="1"/>
            <p:nvPr/>
          </p:nvSpPr>
          <p:spPr>
            <a:xfrm>
              <a:off x="7967560" y="119183"/>
              <a:ext cx="308986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u="sng">
                  <a:latin typeface="Lato" panose="020F0502020204030203" pitchFamily="34" charset="0"/>
                  <a:ea typeface="Lato" panose="020F0502020204030203" pitchFamily="34" charset="0"/>
                  <a:cs typeface="Lato" panose="020F0502020204030203" pitchFamily="34" charset="0"/>
                </a:rPr>
                <a:t>Schema</a:t>
              </a:r>
              <a:endParaRPr lang="en-US" sz="2000">
                <a:latin typeface="Lato" panose="020F0502020204030203" pitchFamily="34" charset="0"/>
                <a:ea typeface="Lato" panose="020F0502020204030203" pitchFamily="34" charset="0"/>
                <a:cs typeface="Lato" panose="020F0502020204030203" pitchFamily="34" charset="0"/>
              </a:endParaRPr>
            </a:p>
          </p:txBody>
        </p:sp>
        <p:sp>
          <p:nvSpPr>
            <p:cNvPr id="21" name="TextBox 20">
              <a:extLst>
                <a:ext uri="{FF2B5EF4-FFF2-40B4-BE49-F238E27FC236}">
                  <a16:creationId xmlns:a16="http://schemas.microsoft.com/office/drawing/2014/main" id="{9649EDEB-B5EA-6660-7D46-05380BA1B25E}"/>
                </a:ext>
              </a:extLst>
            </p:cNvPr>
            <p:cNvSpPr txBox="1"/>
            <p:nvPr/>
          </p:nvSpPr>
          <p:spPr>
            <a:xfrm>
              <a:off x="7967560" y="613328"/>
              <a:ext cx="30898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Lato" panose="020F0502020204030203" pitchFamily="34" charset="0"/>
                  <a:ea typeface="Lato" panose="020F0502020204030203" pitchFamily="34" charset="0"/>
                  <a:cs typeface="Lato" panose="020F0502020204030203" pitchFamily="34" charset="0"/>
                </a:rPr>
                <a:t>Tables</a:t>
              </a:r>
            </a:p>
          </p:txBody>
        </p:sp>
        <p:sp>
          <p:nvSpPr>
            <p:cNvPr id="24" name="TextBox 23">
              <a:extLst>
                <a:ext uri="{FF2B5EF4-FFF2-40B4-BE49-F238E27FC236}">
                  <a16:creationId xmlns:a16="http://schemas.microsoft.com/office/drawing/2014/main" id="{B02645CA-CD91-93D4-217F-1B3D544F7F59}"/>
                </a:ext>
              </a:extLst>
            </p:cNvPr>
            <p:cNvSpPr txBox="1"/>
            <p:nvPr/>
          </p:nvSpPr>
          <p:spPr>
            <a:xfrm>
              <a:off x="7138571" y="2832339"/>
              <a:ext cx="4789711" cy="3055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latin typeface="Lato" panose="020F0502020204030203" pitchFamily="34" charset="0"/>
                  <a:ea typeface="Lato" panose="020F0502020204030203" pitchFamily="34" charset="0"/>
                  <a:cs typeface="Lato" panose="020F0502020204030203" pitchFamily="34" charset="0"/>
                </a:rPr>
                <a:t>No secondary keys – comparison made through lat/long</a:t>
              </a:r>
            </a:p>
          </p:txBody>
        </p:sp>
      </p:grpSp>
      <p:sp>
        <p:nvSpPr>
          <p:cNvPr id="26" name="TextBox 25">
            <a:extLst>
              <a:ext uri="{FF2B5EF4-FFF2-40B4-BE49-F238E27FC236}">
                <a16:creationId xmlns:a16="http://schemas.microsoft.com/office/drawing/2014/main" id="{74D2CA8E-2E69-89C4-FAE4-30B710B89D59}"/>
              </a:ext>
            </a:extLst>
          </p:cNvPr>
          <p:cNvSpPr txBox="1"/>
          <p:nvPr/>
        </p:nvSpPr>
        <p:spPr>
          <a:xfrm>
            <a:off x="7197830" y="3444788"/>
            <a:ext cx="4839957"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000000"/>
                </a:solidFill>
                <a:latin typeface="Lato" panose="020F0502020204030203" pitchFamily="34" charset="0"/>
                <a:ea typeface="Lato" panose="020F0502020204030203" pitchFamily="34" charset="0"/>
                <a:cs typeface="Lato" panose="020F0502020204030203" pitchFamily="34" charset="0"/>
              </a:rPr>
              <a:t>Data Source: Crime Incident Reports</a:t>
            </a:r>
            <a:endParaRPr lang="en-US" sz="1600">
              <a:latin typeface="Lato" panose="020F0502020204030203" pitchFamily="34" charset="0"/>
              <a:ea typeface="Lato" panose="020F0502020204030203" pitchFamily="34" charset="0"/>
              <a:cs typeface="Lato" panose="020F0502020204030203" pitchFamily="34" charset="0"/>
            </a:endParaRPr>
          </a:p>
          <a:p>
            <a:r>
              <a:rPr lang="en-US" sz="1600">
                <a:latin typeface="Lato" panose="020F0502020204030203" pitchFamily="34" charset="0"/>
                <a:ea typeface="Lato" panose="020F0502020204030203" pitchFamily="34" charset="0"/>
                <a:cs typeface="Lato" panose="020F0502020204030203" pitchFamily="34" charset="0"/>
                <a:hlinkClick r:id="rId3"/>
              </a:rPr>
              <a:t>data.boston.gov/dataset/crime-incident-reports-august-2015-to-date-source-new-system</a:t>
            </a:r>
            <a:r>
              <a:rPr lang="en-US" sz="1600">
                <a:latin typeface="Lato" panose="020F0502020204030203" pitchFamily="34" charset="0"/>
                <a:ea typeface="Lato" panose="020F0502020204030203" pitchFamily="34" charset="0"/>
                <a:cs typeface="Lato" panose="020F0502020204030203" pitchFamily="34" charset="0"/>
              </a:rPr>
              <a:t> </a:t>
            </a:r>
          </a:p>
          <a:p>
            <a:pPr marL="285750" indent="-285750">
              <a:buFont typeface="Arial"/>
              <a:buChar char="•"/>
            </a:pPr>
            <a:r>
              <a:rPr lang="en-US" sz="1600">
                <a:latin typeface="Lato" panose="020F0502020204030203" pitchFamily="34" charset="0"/>
                <a:ea typeface="Lato" panose="020F0502020204030203" pitchFamily="34" charset="0"/>
                <a:cs typeface="Lato" panose="020F0502020204030203" pitchFamily="34" charset="0"/>
              </a:rPr>
              <a:t>Public, hosted by Boston Police Department</a:t>
            </a:r>
          </a:p>
          <a:p>
            <a:pPr marL="285750" indent="-285750">
              <a:buFont typeface="Arial"/>
              <a:buChar char="•"/>
            </a:pPr>
            <a:r>
              <a:rPr lang="en-US" sz="1600">
                <a:latin typeface="Lato" panose="020F0502020204030203" pitchFamily="34" charset="0"/>
                <a:ea typeface="Lato" panose="020F0502020204030203" pitchFamily="34" charset="0"/>
                <a:cs typeface="Lato" panose="020F0502020204030203" pitchFamily="34" charset="0"/>
              </a:rPr>
              <a:t>Initial details of all calls to which Boston police responded in past years</a:t>
            </a:r>
          </a:p>
          <a:p>
            <a:pPr marL="285750" indent="-285750">
              <a:buFont typeface="Arial"/>
              <a:buChar char="•"/>
            </a:pPr>
            <a:r>
              <a:rPr lang="en-US" sz="1600">
                <a:latin typeface="Lato" panose="020F0502020204030203" pitchFamily="34" charset="0"/>
                <a:ea typeface="Lato" panose="020F0502020204030203" pitchFamily="34" charset="0"/>
                <a:cs typeface="Lato" panose="020F0502020204030203" pitchFamily="34" charset="0"/>
              </a:rPr>
              <a:t>1 CSV file from 2023-present</a:t>
            </a:r>
          </a:p>
          <a:p>
            <a:pPr marL="285750" indent="-285750">
              <a:buFont typeface="Arial"/>
              <a:buChar char="•"/>
            </a:pPr>
            <a:r>
              <a:rPr lang="en-US" sz="1600">
                <a:latin typeface="Lato" panose="020F0502020204030203" pitchFamily="34" charset="0"/>
                <a:ea typeface="Lato" panose="020F0502020204030203" pitchFamily="34" charset="0"/>
                <a:cs typeface="Lato" panose="020F0502020204030203" pitchFamily="34" charset="0"/>
              </a:rPr>
              <a:t>Roughly 300,000 rows</a:t>
            </a:r>
          </a:p>
          <a:p>
            <a:pPr marL="285750" indent="-285750">
              <a:buFont typeface="Arial"/>
              <a:buChar char="•"/>
            </a:pPr>
            <a:r>
              <a:rPr lang="en-US" sz="1600">
                <a:latin typeface="Lato" panose="020F0502020204030203" pitchFamily="34" charset="0"/>
                <a:ea typeface="Lato" panose="020F0502020204030203" pitchFamily="34" charset="0"/>
                <a:cs typeface="Lato" panose="020F0502020204030203" pitchFamily="34" charset="0"/>
              </a:rPr>
              <a:t>17 columns</a:t>
            </a:r>
          </a:p>
          <a:p>
            <a:pPr marL="742950" lvl="1" indent="-285750">
              <a:buFont typeface="Courier New"/>
              <a:buChar char="o"/>
            </a:pPr>
            <a:r>
              <a:rPr lang="en-US" sz="1600">
                <a:latin typeface="Lato" panose="020F0502020204030203" pitchFamily="34" charset="0"/>
                <a:ea typeface="Lato" panose="020F0502020204030203" pitchFamily="34" charset="0"/>
                <a:cs typeface="Lato" panose="020F0502020204030203" pitchFamily="34" charset="0"/>
              </a:rPr>
              <a:t>Including Incident ID, Year, Month, Description, District, Lat., Long., Street, Location (Lat, Long)</a:t>
            </a:r>
          </a:p>
          <a:p>
            <a:pPr marL="742950" lvl="1" indent="-285750">
              <a:buFont typeface="Courier New"/>
              <a:buChar char="o"/>
            </a:pPr>
            <a:endParaRPr lang="en-US" sz="1600"/>
          </a:p>
        </p:txBody>
      </p:sp>
      <p:cxnSp>
        <p:nvCxnSpPr>
          <p:cNvPr id="27" name="Straight Arrow Connector 26">
            <a:extLst>
              <a:ext uri="{FF2B5EF4-FFF2-40B4-BE49-F238E27FC236}">
                <a16:creationId xmlns:a16="http://schemas.microsoft.com/office/drawing/2014/main" id="{7C7F0915-3713-2477-8717-655A0A75A332}"/>
              </a:ext>
            </a:extLst>
          </p:cNvPr>
          <p:cNvCxnSpPr/>
          <p:nvPr/>
        </p:nvCxnSpPr>
        <p:spPr>
          <a:xfrm>
            <a:off x="6965112" y="-8897"/>
            <a:ext cx="41275" cy="6875462"/>
          </a:xfrm>
          <a:prstGeom prst="straightConnector1">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6091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326EE8-C602-5992-ABFE-E046544E0D29}"/>
              </a:ext>
            </a:extLst>
          </p:cNvPr>
          <p:cNvSpPr>
            <a:spLocks noGrp="1"/>
          </p:cNvSpPr>
          <p:nvPr>
            <p:ph idx="1"/>
          </p:nvPr>
        </p:nvSpPr>
        <p:spPr>
          <a:xfrm>
            <a:off x="188843" y="208722"/>
            <a:ext cx="11817628" cy="6569765"/>
          </a:xfrm>
        </p:spPr>
        <p:txBody>
          <a:bodyPr vert="horz" lIns="91440" tIns="45720" rIns="91440" bIns="45720" rtlCol="0" anchor="t">
            <a:normAutofit lnSpcReduction="10000"/>
          </a:bodyPr>
          <a:lstStyle/>
          <a:p>
            <a:pPr marL="0" indent="0">
              <a:buNone/>
            </a:pPr>
            <a:r>
              <a:rPr lang="en-US" sz="1600" b="1" dirty="0">
                <a:latin typeface="Lato"/>
                <a:ea typeface="Lato"/>
                <a:cs typeface="Lato"/>
              </a:rPr>
              <a:t>Expected system capabilities:</a:t>
            </a:r>
          </a:p>
          <a:p>
            <a:pPr lvl="1"/>
            <a:r>
              <a:rPr lang="en-US" sz="1600" dirty="0">
                <a:latin typeface="Lato"/>
                <a:ea typeface="Lato"/>
                <a:cs typeface="Lato"/>
              </a:rPr>
              <a:t>The proposed information system should suggest the top 3 safest lodging locations in Boston based on user-selected tourist areas in less than 30 seconds. It should have a user-friendly interface. </a:t>
            </a:r>
          </a:p>
          <a:p>
            <a:pPr marL="0" indent="0">
              <a:buNone/>
            </a:pPr>
            <a:r>
              <a:rPr lang="en-US" sz="1600" b="1" dirty="0">
                <a:latin typeface="Lato"/>
                <a:ea typeface="Lato"/>
                <a:cs typeface="Lato"/>
              </a:rPr>
              <a:t>Scope for potential improvement:</a:t>
            </a:r>
          </a:p>
          <a:p>
            <a:pPr lvl="1"/>
            <a:r>
              <a:rPr lang="en-US" sz="1600" dirty="0">
                <a:latin typeface="Lato"/>
                <a:ea typeface="Lato"/>
                <a:cs typeface="Lato"/>
              </a:rPr>
              <a:t>Future versions of the system could expand beyond Boston to support other major tourist cities. Additional factors could also be incorporated into the recommendation algorithm, including proximity to public transportation, lodging prices, hotel ratings, walking distance to attractions, neighborhood characteristics, and availability. The system could also incorporate additional and more frequently updated crime and lodging data to improve the accuracy and timeliness of its recommendations.</a:t>
            </a:r>
          </a:p>
          <a:p>
            <a:pPr lvl="1"/>
            <a:r>
              <a:rPr lang="en-US" sz="1600" dirty="0">
                <a:latin typeface="Lato"/>
                <a:ea typeface="Lato"/>
                <a:cs typeface="Lato"/>
              </a:rPr>
              <a:t>Another potential improvement would be allowing users to customize how much they value safety, cost, transportation access, and proximity to attractions. An advanced version could also incorporate caching or additional database technologies to improve performance as the number of users and available data increases.</a:t>
            </a:r>
          </a:p>
          <a:p>
            <a:pPr lvl="1"/>
            <a:endParaRPr lang="en-US" sz="1600">
              <a:latin typeface="Lato" panose="020F0502020204030203" pitchFamily="34" charset="0"/>
              <a:ea typeface="Lato" panose="020F0502020204030203" pitchFamily="34" charset="0"/>
              <a:cs typeface="Lato" panose="020F0502020204030203" pitchFamily="34" charset="0"/>
            </a:endParaRPr>
          </a:p>
          <a:p>
            <a:pPr marL="0" indent="0">
              <a:buNone/>
            </a:pPr>
            <a:r>
              <a:rPr lang="en-US" sz="1600" b="1" dirty="0">
                <a:latin typeface="Lato"/>
                <a:ea typeface="Lato"/>
                <a:cs typeface="Lato"/>
              </a:rPr>
              <a:t>Project timeline:</a:t>
            </a:r>
          </a:p>
          <a:p>
            <a:pPr marL="0" indent="0">
              <a:buNone/>
            </a:pPr>
            <a:r>
              <a:rPr lang="en-US" sz="1600" dirty="0">
                <a:latin typeface="Lato"/>
                <a:ea typeface="Lato"/>
                <a:cs typeface="Lato"/>
              </a:rPr>
              <a:t>Project Proposal – Milestone 1:</a:t>
            </a:r>
          </a:p>
          <a:p>
            <a:pPr lvl="1"/>
            <a:r>
              <a:rPr lang="en-US" sz="1600" dirty="0">
                <a:latin typeface="Lato"/>
                <a:ea typeface="Lato"/>
                <a:cs typeface="Lato"/>
              </a:rPr>
              <a:t>Finalize project idea, data sources, and project plan.</a:t>
            </a:r>
          </a:p>
          <a:p>
            <a:pPr marL="0" indent="0">
              <a:buNone/>
            </a:pPr>
            <a:r>
              <a:rPr lang="en-US" sz="1600" dirty="0">
                <a:latin typeface="Lato"/>
                <a:ea typeface="Lato"/>
                <a:cs typeface="Lato"/>
              </a:rPr>
              <a:t>Progress Check-in – Milestone 2:</a:t>
            </a:r>
          </a:p>
          <a:p>
            <a:pPr lvl="1"/>
            <a:r>
              <a:rPr lang="en-US" sz="1600" dirty="0">
                <a:latin typeface="Lato"/>
                <a:ea typeface="Lato"/>
                <a:cs typeface="Lato"/>
              </a:rPr>
              <a:t>Have the database, initial code, and main system components developed. Identify and resolve any major blockers.</a:t>
            </a:r>
          </a:p>
          <a:p>
            <a:pPr marL="0" indent="0">
              <a:buNone/>
            </a:pPr>
            <a:r>
              <a:rPr lang="en-US" sz="1600" dirty="0">
                <a:latin typeface="Lato"/>
                <a:ea typeface="Lato"/>
                <a:cs typeface="Lato"/>
              </a:rPr>
              <a:t>Project Presentation – Milestone 3:</a:t>
            </a:r>
          </a:p>
          <a:p>
            <a:pPr lvl="1"/>
            <a:r>
              <a:rPr lang="en-US" sz="1600" dirty="0">
                <a:latin typeface="Lato"/>
                <a:ea typeface="Lato"/>
                <a:cs typeface="Lato"/>
              </a:rPr>
              <a:t>Have the full system completed, tested, and ready for a live demonstration.</a:t>
            </a:r>
          </a:p>
          <a:p>
            <a:pPr marL="0" indent="0">
              <a:buNone/>
            </a:pPr>
            <a:r>
              <a:rPr lang="en-US" sz="1600" dirty="0">
                <a:latin typeface="Lato"/>
                <a:ea typeface="Lato"/>
                <a:cs typeface="Lato"/>
              </a:rPr>
              <a:t>Final Project Report – Milestone 4:</a:t>
            </a:r>
          </a:p>
          <a:p>
            <a:pPr lvl="1"/>
            <a:r>
              <a:rPr lang="en-US" sz="1600" dirty="0">
                <a:latin typeface="Lato"/>
                <a:ea typeface="Lato"/>
                <a:cs typeface="Lato"/>
              </a:rPr>
              <a:t>Finalize documentation, database schema, Docker setup, dashboard, screenshots, demo video, and GitHub repository.</a:t>
            </a:r>
          </a:p>
          <a:p>
            <a:pPr marL="0" indent="0">
              <a:buNone/>
            </a:pPr>
            <a:r>
              <a:rPr lang="en-US" dirty="0">
                <a:latin typeface="Lato"/>
                <a:ea typeface="Lato"/>
                <a:cs typeface="Lato"/>
              </a:rPr>
              <a:t>  </a:t>
            </a:r>
          </a:p>
          <a:p>
            <a:pPr marL="0" indent="0">
              <a:buNone/>
            </a:pPr>
            <a:endParaRPr lang="en-US"/>
          </a:p>
        </p:txBody>
      </p:sp>
    </p:spTree>
    <p:extLst>
      <p:ext uri="{BB962C8B-B14F-4D97-AF65-F5344CB8AC3E}">
        <p14:creationId xmlns:p14="http://schemas.microsoft.com/office/powerpoint/2010/main" val="682547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ca5fb04-72b5-48cd-8358-5aeb299286e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D9D8268A9EC7C418E8A59E2E54D6DB5" ma:contentTypeVersion="6" ma:contentTypeDescription="Create a new document." ma:contentTypeScope="" ma:versionID="8e95bcbe68d08bb4c113cf3a591f9302">
  <xsd:schema xmlns:xsd="http://www.w3.org/2001/XMLSchema" xmlns:xs="http://www.w3.org/2001/XMLSchema" xmlns:p="http://schemas.microsoft.com/office/2006/metadata/properties" xmlns:ns3="1ca5fb04-72b5-48cd-8358-5aeb299286ec" targetNamespace="http://schemas.microsoft.com/office/2006/metadata/properties" ma:root="true" ma:fieldsID="97c356f9c61e26e11110a156a8e2bfe6" ns3:_="">
    <xsd:import namespace="1ca5fb04-72b5-48cd-8358-5aeb299286e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a5fb04-72b5-48cd-8358-5aeb299286e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D04181-76EF-43C1-8DFC-5FC3FC644DB7}">
  <ds:schemaRefs>
    <ds:schemaRef ds:uri="http://schemas.microsoft.com/sharepoint/v3/contenttype/forms"/>
  </ds:schemaRefs>
</ds:datastoreItem>
</file>

<file path=customXml/itemProps2.xml><?xml version="1.0" encoding="utf-8"?>
<ds:datastoreItem xmlns:ds="http://schemas.openxmlformats.org/officeDocument/2006/customXml" ds:itemID="{9A1526AF-F327-4C46-BB80-226AEC5A1B58}">
  <ds:schemaRefs>
    <ds:schemaRef ds:uri="1ca5fb04-72b5-48cd-8358-5aeb299286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063D85C-0E3C-4C8C-BC9A-D7E98AF3E480}">
  <ds:schemaRefs>
    <ds:schemaRef ds:uri="1ca5fb04-72b5-48cd-8358-5aeb299286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2</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IEM 4723: Website to Recommend Hotel and Short-Term Rental Locations Based on Crime and Tourism in Boston  By: Kate Pritchett, Elyse Sardegna, and Trinity Young  Project Domain: Tourism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Sardegna, Elyse</dc:creator>
  <cp:revision>5</cp:revision>
  <dcterms:created xsi:type="dcterms:W3CDTF">2026-09-17T15:39:03Z</dcterms:created>
  <dcterms:modified xsi:type="dcterms:W3CDTF">2026-10-10T22:26:18Z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0x0101001D9D8268A9EC7C418E8A59E2E54D6DB5</vt:lpwstr>
  </property>
</Properties>
</file>